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evron 3"/>
          <p:cNvSpPr/>
          <p:nvPr/>
        </p:nvSpPr>
        <p:spPr>
          <a:xfrm>
            <a:off x="201168" y="658368"/>
            <a:ext cx="1143000" cy="384048"/>
          </a:xfrm>
          <a:prstGeom prst="chevron">
            <a:avLst/>
          </a:prstGeom>
          <a:solidFill>
            <a:srgbClr val="D84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914400"/>
            <a:ext cx="9052560" cy="6400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3000" b="1">
                <a:solidFill>
                  <a:srgbClr val="17233B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572768"/>
            <a:ext cx="61264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2800" b="1">
                <a:solidFill>
                  <a:srgbClr val="17233B"/>
                </a:solidFill>
                <a:latin typeface="Aptos"/>
              </a:defRPr>
            </a:pPr>
            <a:r>
              <a:t>USING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423160"/>
            <a:ext cx="1828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D84524"/>
                </a:solidFill>
                <a:latin typeface="Aptos"/>
              </a:defRPr>
            </a:pPr>
            <a: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423160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7233B"/>
                </a:solidFill>
                <a:latin typeface="Aptos"/>
              </a:defRPr>
            </a:pPr>
            <a:r>
              <a:t>Presented by: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670048"/>
            <a:ext cx="676656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17233B"/>
                </a:solidFill>
                <a:latin typeface="Aptos"/>
              </a:defRPr>
            </a:pPr>
            <a:r>
              <a:t>Janani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99232"/>
            <a:ext cx="1828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D84524"/>
                </a:solidFill>
                <a:latin typeface="Aptos"/>
              </a:defRPr>
            </a:pPr>
            <a: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999232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7233B"/>
                </a:solidFill>
                <a:latin typeface="Aptos"/>
              </a:defRPr>
            </a:pPr>
            <a:r>
              <a:t>Position: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246120"/>
            <a:ext cx="676656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17233B"/>
                </a:solidFill>
                <a:latin typeface="Aptos"/>
              </a:defRPr>
            </a:pPr>
            <a:r>
              <a:t>Data Science Intern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75303"/>
            <a:ext cx="1828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D84524"/>
                </a:solidFill>
                <a:latin typeface="Aptos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575303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7233B"/>
                </a:solidFill>
                <a:latin typeface="Aptos"/>
              </a:defRPr>
            </a:pPr>
            <a:r>
              <a:t>Organization: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822191"/>
            <a:ext cx="676656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17233B"/>
                </a:solidFill>
                <a:latin typeface="Aptos"/>
              </a:defRPr>
            </a:pPr>
            <a:r>
              <a:t>Nexthikes IT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51376"/>
            <a:ext cx="1828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D84524"/>
                </a:solidFill>
                <a:latin typeface="Aptos"/>
              </a:defRPr>
            </a:pPr>
            <a: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4151376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7233B"/>
                </a:solidFill>
                <a:latin typeface="Aptos"/>
              </a:defRPr>
            </a:pPr>
            <a:r>
              <a:t>Project: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4398264"/>
            <a:ext cx="6766560" cy="246221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1">
                <a:solidFill>
                  <a:srgbClr val="17233B"/>
                </a:solidFill>
                <a:latin typeface="Aptos"/>
              </a:defRPr>
            </a:pPr>
            <a:r>
              <a:rPr dirty="0"/>
              <a:t>Bike Sharing Demand Data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27448"/>
            <a:ext cx="1828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D84524"/>
                </a:solidFill>
                <a:latin typeface="Aptos"/>
              </a:defRPr>
            </a:pPr>
            <a: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727448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7233B"/>
                </a:solidFill>
                <a:latin typeface="Aptos"/>
              </a:defRPr>
            </a:pPr>
            <a:r>
              <a:t>Tools &amp; Techniques: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974336"/>
            <a:ext cx="6766560" cy="5943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17233B"/>
                </a:solidFill>
                <a:latin typeface="Aptos"/>
              </a:defRPr>
            </a:pPr>
            <a:r>
              <a:t>Microsoft Excel | Power Query | PivotTables &amp; Pivot Charts | Dashboard | Descriptive Statistics | Correlation Analysis | Forecasting | Anomaly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641848"/>
            <a:ext cx="1828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D84524"/>
                </a:solidFill>
                <a:latin typeface="Aptos"/>
              </a:defRPr>
            </a:pPr>
            <a: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641848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7233B"/>
                </a:solidFill>
                <a:latin typeface="Aptos"/>
              </a:defRPr>
            </a:pPr>
            <a:r>
              <a:t>Submission Date: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5888736"/>
            <a:ext cx="6766560" cy="3291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17233B"/>
                </a:solidFill>
                <a:latin typeface="Aptos"/>
              </a:defRPr>
            </a:pPr>
            <a:r>
              <a:t>10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Presentation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02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6400800" cy="4297680"/>
          </a:xfrm>
          <a:prstGeom prst="rect">
            <a:avLst/>
          </a:prstGeom>
          <a:noFill/>
        </p:spPr>
        <p:txBody>
          <a:bodyPr wrap="square" lIns="54864" tIns="18288" rIns="36576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7FAFF"/>
                </a:solidFill>
                <a:latin typeface="Aptos"/>
              </a:defRPr>
            </a:pPr>
            <a:r>
              <a:t>•  01  Executive summary &amp; business framing</a:t>
            </a:r>
          </a:p>
          <a:p>
            <a:pPr>
              <a:spcAft>
                <a:spcPts val="1400"/>
              </a:spcAft>
              <a:defRPr sz="1800">
                <a:solidFill>
                  <a:srgbClr val="F7FAFF"/>
                </a:solidFill>
                <a:latin typeface="Aptos"/>
              </a:defRPr>
            </a:pPr>
            <a:r>
              <a:t>•  02  Dataset structure, preparation and validation</a:t>
            </a:r>
          </a:p>
          <a:p>
            <a:pPr>
              <a:spcAft>
                <a:spcPts val="1400"/>
              </a:spcAft>
              <a:defRPr sz="1800">
                <a:solidFill>
                  <a:srgbClr val="F7FAFF"/>
                </a:solidFill>
                <a:latin typeface="Aptos"/>
              </a:defRPr>
            </a:pPr>
            <a:r>
              <a:t>•  03  Demand patterns: time, customer segment and weather</a:t>
            </a:r>
          </a:p>
          <a:p>
            <a:pPr>
              <a:spcAft>
                <a:spcPts val="1400"/>
              </a:spcAft>
              <a:defRPr sz="1800">
                <a:solidFill>
                  <a:srgbClr val="F7FAFF"/>
                </a:solidFill>
                <a:latin typeface="Aptos"/>
              </a:defRPr>
            </a:pPr>
            <a:r>
              <a:t>•  04  Descriptive statistics, correlation and pivot-style summaries</a:t>
            </a:r>
          </a:p>
          <a:p>
            <a:pPr>
              <a:spcAft>
                <a:spcPts val="1400"/>
              </a:spcAft>
              <a:defRPr sz="1800">
                <a:solidFill>
                  <a:srgbClr val="F7FAFF"/>
                </a:solidFill>
                <a:latin typeface="Aptos"/>
              </a:defRPr>
            </a:pPr>
            <a:r>
              <a:t>•  05  Forecasting, anomaly screening and dashboard design</a:t>
            </a:r>
          </a:p>
          <a:p>
            <a:pPr>
              <a:spcAft>
                <a:spcPts val="1400"/>
              </a:spcAft>
              <a:defRPr sz="1800">
                <a:solidFill>
                  <a:srgbClr val="F7FAFF"/>
                </a:solidFill>
                <a:latin typeface="Aptos"/>
              </a:defRPr>
            </a:pPr>
            <a:r>
              <a:t>•  06  Recommendations, limitations and next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645920"/>
            <a:ext cx="3977639" cy="4114800"/>
          </a:xfrm>
          <a:prstGeom prst="roundRect">
            <a:avLst/>
          </a:prstGeom>
          <a:solidFill>
            <a:srgbClr val="15264A"/>
          </a:solidFill>
          <a:ln w="1651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847088"/>
            <a:ext cx="3575303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FFC857"/>
                </a:solidFill>
                <a:latin typeface="Aptos"/>
              </a:defRPr>
            </a:pPr>
            <a:r>
              <a:t>Analyst 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395728"/>
            <a:ext cx="3575303" cy="32004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Move from data reliability to business interpretation, then translate findings into operating decisions. Every chart is based on the supplied workbook's Final_DataSet sheet.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Executive summary | what the sample says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03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60320" cy="960120"/>
          </a:xfrm>
          <a:prstGeom prst="roundRect">
            <a:avLst/>
          </a:prstGeom>
          <a:solidFill>
            <a:srgbClr val="15264A"/>
          </a:solidFill>
          <a:ln w="13970">
            <a:solidFill>
              <a:srgbClr val="15C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18488"/>
            <a:ext cx="22860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C8D2E5"/>
                </a:solidFill>
                <a:latin typeface="Aptos"/>
              </a:defRPr>
            </a:pPr>
            <a:r>
              <a:t>RECORDS ANALYZED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92807"/>
            <a:ext cx="2286000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15C6B8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08760"/>
            <a:ext cx="2560320" cy="960120"/>
          </a:xfrm>
          <a:prstGeom prst="roundRect">
            <a:avLst/>
          </a:prstGeom>
          <a:solidFill>
            <a:srgbClr val="15264A"/>
          </a:solidFill>
          <a:ln w="13970">
            <a:solidFill>
              <a:srgbClr val="35B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618488"/>
            <a:ext cx="22860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C8D2E5"/>
                </a:solidFill>
                <a:latin typeface="Aptos"/>
              </a:defRPr>
            </a:pPr>
            <a:r>
              <a:t>TOTAL RECORDED RIDES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892807"/>
            <a:ext cx="2286000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35B8F4"/>
                </a:solidFill>
                <a:latin typeface="Aptos"/>
              </a:defRPr>
            </a:pPr>
            <a:r>
              <a:t>58,304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508760"/>
            <a:ext cx="2560320" cy="960120"/>
          </a:xfrm>
          <a:prstGeom prst="roundRect">
            <a:avLst/>
          </a:prstGeom>
          <a:solidFill>
            <a:srgbClr val="15264A"/>
          </a:solidFill>
          <a:ln w="13970">
            <a:solidFill>
              <a:srgbClr val="9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618488"/>
            <a:ext cx="22860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C8D2E5"/>
                </a:solidFill>
                <a:latin typeface="Aptos"/>
              </a:defRPr>
            </a:pPr>
            <a:r>
              <a:t>REGISTERED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92807"/>
            <a:ext cx="2286000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9B8CFF"/>
                </a:solidFill>
                <a:latin typeface="Aptos"/>
              </a:defRPr>
            </a:pPr>
            <a:r>
              <a:t>91.6%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508760"/>
            <a:ext cx="2560320" cy="960120"/>
          </a:xfrm>
          <a:prstGeom prst="roundRect">
            <a:avLst/>
          </a:prstGeom>
          <a:solidFill>
            <a:srgbClr val="15264A"/>
          </a:solidFill>
          <a:ln w="139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618488"/>
            <a:ext cx="22860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C8D2E5"/>
                </a:solidFill>
                <a:latin typeface="Aptos"/>
              </a:defRPr>
            </a:pPr>
            <a:r>
              <a:t>IQR OUTLIER FLAGS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892807"/>
            <a:ext cx="2286000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FF6B6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880360"/>
            <a:ext cx="10607040" cy="3017520"/>
          </a:xfrm>
          <a:prstGeom prst="rect">
            <a:avLst/>
          </a:prstGeom>
          <a:noFill/>
        </p:spPr>
        <p:txBody>
          <a:bodyPr wrap="square" lIns="54864" tIns="18288" r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7FAFF"/>
                </a:solidFill>
                <a:latin typeface="Aptos"/>
              </a:defRPr>
            </a:pPr>
            <a:r>
              <a:t>•  Coverage spans 01 Jan 2011 to 14 Feb 2011 across 45 distinct dates.</a:t>
            </a:r>
          </a:p>
          <a:p>
            <a:pPr>
              <a:spcAft>
                <a:spcPts val="1200"/>
              </a:spcAft>
              <a:defRPr sz="1600">
                <a:solidFill>
                  <a:srgbClr val="F7FAFF"/>
                </a:solidFill>
                <a:latin typeface="Aptos"/>
              </a:defRPr>
            </a:pPr>
            <a:r>
              <a:t>•  Average demand is 58.3 rides per recorded hourly row; median is 49.</a:t>
            </a:r>
          </a:p>
          <a:p>
            <a:pPr>
              <a:spcAft>
                <a:spcPts val="1200"/>
              </a:spcAft>
              <a:defRPr sz="1600">
                <a:solidFill>
                  <a:srgbClr val="F7FAFF"/>
                </a:solidFill>
                <a:latin typeface="Aptos"/>
              </a:defRPr>
            </a:pPr>
            <a:r>
              <a:t>•  Demand is concentrated in morning/evening commute windows; the 17:00 hour has the highest mean.</a:t>
            </a:r>
          </a:p>
          <a:p>
            <a:pPr>
              <a:spcAft>
                <a:spcPts val="1200"/>
              </a:spcAft>
              <a:defRPr sz="1600">
                <a:solidFill>
                  <a:srgbClr val="F7FAFF"/>
                </a:solidFill>
                <a:latin typeface="Aptos"/>
              </a:defRPr>
            </a:pPr>
            <a:r>
              <a:t>•  Registered riders dominate the recorded mix; weather and temperature show associations, not proof of causality.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Business question &amp; analytical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04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201168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100" b="1">
                <a:solidFill>
                  <a:srgbClr val="FFC857"/>
                </a:solidFill>
                <a:latin typeface="Aptos"/>
              </a:defRPr>
            </a:pPr>
            <a:r>
              <a:t>CORE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4754880" cy="12801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200" b="1">
                <a:solidFill>
                  <a:srgbClr val="F7FAFF"/>
                </a:solidFill>
                <a:latin typeface="Aptos"/>
              </a:defRPr>
            </a:pPr>
            <a:r>
              <a:t>When does demand rise, what conditions align with it, and how can operations plan around that pattern?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5166360" cy="4389120"/>
          </a:xfrm>
          <a:prstGeom prst="roundRect">
            <a:avLst/>
          </a:prstGeom>
          <a:solidFill>
            <a:srgbClr val="15264A"/>
          </a:solidFill>
          <a:ln w="16510">
            <a:solidFill>
              <a:srgbClr val="15C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27648" y="1755648"/>
            <a:ext cx="476402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15C6B8"/>
                </a:solidFill>
                <a:latin typeface="Aptos"/>
              </a:defRPr>
            </a:pPr>
            <a:r>
              <a:t>Analysis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304288"/>
            <a:ext cx="4764024" cy="3474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1  Inspect workbook structure</a:t>
            </a:r>
            <a:br/>
            <a:r>
              <a:t>2  Validate key fields and ride totals</a:t>
            </a:r>
            <a:br/>
            <a:r>
              <a:t>3  Profile time, weather and rider mix</a:t>
            </a:r>
            <a:br/>
            <a:r>
              <a:t>4  Compare simple forecast baselines</a:t>
            </a:r>
            <a:br/>
            <a:r>
              <a:t>5  Flag unusual hourly counts</a:t>
            </a:r>
            <a:br/>
            <a:r>
              <a:t>6  Convert insights into dashboard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29200"/>
            <a:ext cx="4754880" cy="6400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C8D2E5"/>
                </a:solidFill>
                <a:latin typeface="Aptos"/>
              </a:defRPr>
            </a:pPr>
            <a:r>
              <a:t>Decision users: fleet operations • customer growth • service planning •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Dataset inventory | scope and fields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05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6583680" cy="4480560"/>
          </a:xfrm>
          <a:prstGeom prst="rect">
            <a:avLst/>
          </a:prstGeom>
          <a:noFill/>
        </p:spPr>
        <p:txBody>
          <a:bodyPr wrap="square" lIns="54864" tIns="18288" r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7FAFF"/>
                </a:solidFill>
                <a:latin typeface="Aptos"/>
              </a:defRPr>
            </a:pPr>
            <a:r>
              <a:t>•  Primary analysis table: Final_DataSet — 1,000 rows and 13 usable columns after excluding empty helper columns.</a:t>
            </a:r>
          </a:p>
          <a:p>
            <a:pPr>
              <a:spcAft>
                <a:spcPts val="1200"/>
              </a:spcAft>
              <a:defRPr sz="1600">
                <a:solidFill>
                  <a:srgbClr val="F7FAFF"/>
                </a:solidFill>
                <a:latin typeface="Aptos"/>
              </a:defRPr>
            </a:pPr>
            <a:r>
              <a:t>•  Time fields: Date, Hour, Weekday, Holiday; categorical context: Weathersit.</a:t>
            </a:r>
          </a:p>
          <a:p>
            <a:pPr>
              <a:spcAft>
                <a:spcPts val="1200"/>
              </a:spcAft>
              <a:defRPr sz="1600">
                <a:solidFill>
                  <a:srgbClr val="F7FAFF"/>
                </a:solidFill>
                <a:latin typeface="Aptos"/>
              </a:defRPr>
            </a:pPr>
            <a:r>
              <a:t>•  Environmental inputs: Temp, Assumed_Temp, Humidity, Windspeed.</a:t>
            </a:r>
          </a:p>
          <a:p>
            <a:pPr>
              <a:spcAft>
                <a:spcPts val="1200"/>
              </a:spcAft>
              <a:defRPr sz="1600">
                <a:solidFill>
                  <a:srgbClr val="F7FAFF"/>
                </a:solidFill>
                <a:latin typeface="Aptos"/>
              </a:defRPr>
            </a:pPr>
            <a:r>
              <a:t>•  Outcome and segment fields: Casual_Customers, Registered_Customers, Total_Count.</a:t>
            </a:r>
          </a:p>
          <a:p>
            <a:pPr>
              <a:spcAft>
                <a:spcPts val="1200"/>
              </a:spcAft>
              <a:defRPr sz="1600">
                <a:solidFill>
                  <a:srgbClr val="F7FAFF"/>
                </a:solidFill>
                <a:latin typeface="Aptos"/>
              </a:defRPr>
            </a:pPr>
            <a:r>
              <a:t>•  Observed coverage: 45 unique dates; 24 distinct hour values (0–23).</a:t>
            </a:r>
          </a:p>
          <a:p>
            <a:pPr>
              <a:spcAft>
                <a:spcPts val="1200"/>
              </a:spcAft>
              <a:defRPr sz="1600">
                <a:solidFill>
                  <a:srgbClr val="F7FAFF"/>
                </a:solidFill>
                <a:latin typeface="Aptos"/>
              </a:defRPr>
            </a:pPr>
            <a:r>
              <a:t>•  Workbook also contains raw/cleaned split sheets; this deck uses the consolidated final table for consistent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45920"/>
            <a:ext cx="3931920" cy="4206240"/>
          </a:xfrm>
          <a:prstGeom prst="roundRect">
            <a:avLst/>
          </a:prstGeom>
          <a:solidFill>
            <a:srgbClr val="15264A"/>
          </a:solidFill>
          <a:ln w="1651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1847088"/>
            <a:ext cx="352958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FF6B6B"/>
                </a:solidFill>
                <a:latin typeface="Aptos"/>
              </a:defRPr>
            </a:pPr>
            <a:r>
              <a:t>Interpretation guardrail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395728"/>
            <a:ext cx="3529584" cy="329183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The workbook table is a 1,000-row slice, not a full-year history. Several dates do not contain a complete 24-hour cycle, so daily totals mean “sum of recorded rows” rather than guaranteed full-day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Data quality &amp; validation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06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937760" cy="960120"/>
          </a:xfrm>
          <a:prstGeom prst="roundRect">
            <a:avLst/>
          </a:prstGeom>
          <a:solidFill>
            <a:srgbClr val="15264A"/>
          </a:solidFill>
          <a:ln w="13970">
            <a:solidFill>
              <a:srgbClr val="15C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66344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C8D2E5"/>
                </a:solidFill>
                <a:latin typeface="Aptos"/>
              </a:defRPr>
            </a:pPr>
            <a:r>
              <a:t>CORE-FIELD NULLS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29968"/>
            <a:ext cx="4663440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15C6B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43891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000" b="1">
                <a:solidFill>
                  <a:srgbClr val="15C6B8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4937760" cy="960120"/>
          </a:xfrm>
          <a:prstGeom prst="roundRect">
            <a:avLst/>
          </a:prstGeom>
          <a:solidFill>
            <a:srgbClr val="15264A"/>
          </a:solidFill>
          <a:ln w="13970">
            <a:solidFill>
              <a:srgbClr val="15C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755648"/>
            <a:ext cx="466344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C8D2E5"/>
                </a:solidFill>
                <a:latin typeface="Aptos"/>
              </a:defRPr>
            </a:pPr>
            <a:r>
              <a:t>DUPLICATE INSTANT 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29968"/>
            <a:ext cx="4663440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15C6B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651760"/>
            <a:ext cx="43891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000" b="1">
                <a:solidFill>
                  <a:srgbClr val="15C6B8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63240"/>
            <a:ext cx="4937760" cy="960120"/>
          </a:xfrm>
          <a:prstGeom prst="roundRect">
            <a:avLst/>
          </a:prstGeom>
          <a:solidFill>
            <a:srgbClr val="15264A"/>
          </a:solidFill>
          <a:ln w="13970">
            <a:solidFill>
              <a:srgbClr val="15C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172968"/>
            <a:ext cx="466344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C8D2E5"/>
                </a:solidFill>
                <a:latin typeface="Aptos"/>
              </a:defRPr>
            </a:pPr>
            <a:r>
              <a:t>RIDE IDENTITY MISMATCHES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447288"/>
            <a:ext cx="4663440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15C6B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43891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000" b="1">
                <a:solidFill>
                  <a:srgbClr val="15C6B8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63240"/>
            <a:ext cx="4937760" cy="960120"/>
          </a:xfrm>
          <a:prstGeom prst="roundRect">
            <a:avLst/>
          </a:prstGeom>
          <a:solidFill>
            <a:srgbClr val="15264A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172968"/>
            <a:ext cx="466344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C8D2E5"/>
                </a:solidFill>
                <a:latin typeface="Aptos"/>
              </a:defRPr>
            </a:pPr>
            <a:r>
              <a:t>DATE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47288"/>
            <a:ext cx="4663440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FFC857"/>
                </a:solidFill>
                <a:latin typeface="Aptos"/>
              </a:defRPr>
            </a:pPr>
            <a:r>
              <a:t>45 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069080"/>
            <a:ext cx="438912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000" b="1">
                <a:solidFill>
                  <a:srgbClr val="FFC857"/>
                </a:solidFill>
                <a:latin typeface="Aptos"/>
              </a:defRPr>
            </a:pPr>
            <a:r>
              <a:t>LIMITED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1060704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F7FAFF"/>
                </a:solidFill>
                <a:latin typeface="Aptos"/>
              </a:defRPr>
            </a:pPr>
            <a:r>
              <a:t>Validation rule: Casual_Customers + Registered_Customers = Total_Count for every analyzed row.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77840"/>
            <a:ext cx="1060704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C8D2E5"/>
                </a:solidFill>
                <a:latin typeface="Aptos"/>
              </a:defRPr>
            </a:pPr>
            <a:r>
              <a:t>Next quality improvement: verify complete day coverage, reconcile weather-category definitions, and retain a documented data dictionary.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KPI framework | consistent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07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224028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5C6B8"/>
                </a:solidFill>
                <a:latin typeface="Aptos"/>
              </a:defRPr>
            </a:pPr>
            <a:r>
              <a:t>Total rides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3749039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7FAFF"/>
                </a:solidFill>
                <a:latin typeface="Aptos"/>
              </a:defRPr>
            </a:pPr>
            <a:r>
              <a:t>SUM(Total_Count)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417320"/>
            <a:ext cx="438912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C8D2E5"/>
                </a:solidFill>
                <a:latin typeface="Aptos"/>
              </a:defRPr>
            </a:pPr>
            <a:r>
              <a:t>Volume across included 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10607040" cy="10972"/>
          </a:xfrm>
          <a:prstGeom prst="rect">
            <a:avLst/>
          </a:prstGeom>
          <a:solidFill>
            <a:srgbClr val="34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2"/>
            <a:ext cx="224028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5C6B8"/>
                </a:solidFill>
                <a:latin typeface="Aptos"/>
              </a:defRPr>
            </a:pPr>
            <a:r>
              <a:t>Mean rides /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130552"/>
            <a:ext cx="3749039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7FAFF"/>
                </a:solidFill>
                <a:latin typeface="Aptos"/>
              </a:defRPr>
            </a:pPr>
            <a:r>
              <a:t>AVERAGE(Total_Count)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130552"/>
            <a:ext cx="438912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C8D2E5"/>
                </a:solidFill>
                <a:latin typeface="Aptos"/>
              </a:defRPr>
            </a:pPr>
            <a:r>
              <a:t>Average hourly-record demand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33472"/>
            <a:ext cx="10607040" cy="10972"/>
          </a:xfrm>
          <a:prstGeom prst="rect">
            <a:avLst/>
          </a:prstGeom>
          <a:solidFill>
            <a:srgbClr val="34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843784"/>
            <a:ext cx="224028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5C6B8"/>
                </a:solidFill>
                <a:latin typeface="Aptos"/>
              </a:defRPr>
            </a:pPr>
            <a:r>
              <a:t>Registered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843784"/>
            <a:ext cx="3749039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7FAFF"/>
                </a:solidFill>
                <a:latin typeface="Aptos"/>
              </a:defRPr>
            </a:pPr>
            <a:r>
              <a:t>SUM(Registered) / SUM(Total_Count)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843784"/>
            <a:ext cx="438912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C8D2E5"/>
                </a:solidFill>
                <a:latin typeface="Aptos"/>
              </a:defRPr>
            </a:pPr>
            <a:r>
              <a:t>Customer mix / retention proxy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46704"/>
            <a:ext cx="10607040" cy="10972"/>
          </a:xfrm>
          <a:prstGeom prst="rect">
            <a:avLst/>
          </a:prstGeom>
          <a:solidFill>
            <a:srgbClr val="34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557015"/>
            <a:ext cx="224028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5C6B8"/>
                </a:solidFill>
                <a:latin typeface="Aptos"/>
              </a:defRPr>
            </a:pPr>
            <a:r>
              <a:t>Peak hour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557015"/>
            <a:ext cx="3749039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7FAFF"/>
                </a:solidFill>
                <a:latin typeface="Aptos"/>
              </a:defRPr>
            </a:pPr>
            <a:r>
              <a:t>Hour with highest mean Total_Count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557015"/>
            <a:ext cx="438912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C8D2E5"/>
                </a:solidFill>
                <a:latin typeface="Aptos"/>
              </a:defRPr>
            </a:pPr>
            <a:r>
              <a:t>Potential fleet deployment window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59935"/>
            <a:ext cx="10607040" cy="10972"/>
          </a:xfrm>
          <a:prstGeom prst="rect">
            <a:avLst/>
          </a:prstGeom>
          <a:solidFill>
            <a:srgbClr val="34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270248"/>
            <a:ext cx="224028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5C6B8"/>
                </a:solidFill>
                <a:latin typeface="Aptos"/>
              </a:defRPr>
            </a:pPr>
            <a:r>
              <a:t>Weather uplift / penalty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270248"/>
            <a:ext cx="3749039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7FAFF"/>
                </a:solidFill>
                <a:latin typeface="Aptos"/>
              </a:defRPr>
            </a:pPr>
            <a:r>
              <a:t>Weather mean vs overall mean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270248"/>
            <a:ext cx="438912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C8D2E5"/>
                </a:solidFill>
                <a:latin typeface="Aptos"/>
              </a:defRPr>
            </a:pPr>
            <a:r>
              <a:t>Contextual comparison, not causal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773168"/>
            <a:ext cx="10607040" cy="10972"/>
          </a:xfrm>
          <a:prstGeom prst="rect">
            <a:avLst/>
          </a:prstGeom>
          <a:solidFill>
            <a:srgbClr val="34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983480"/>
            <a:ext cx="224028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5C6B8"/>
                </a:solidFill>
                <a:latin typeface="Aptos"/>
              </a:defRPr>
            </a:pPr>
            <a:r>
              <a:t>Outlier 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4983480"/>
            <a:ext cx="3749039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7FAFF"/>
                </a:solidFill>
                <a:latin typeface="Aptos"/>
              </a:defRPr>
            </a:pPr>
            <a:r>
              <a:t>Rows outside 1.5×IQR fences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983480"/>
            <a:ext cx="438912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C8D2E5"/>
                </a:solidFill>
                <a:latin typeface="Aptos"/>
              </a:defRPr>
            </a:pPr>
            <a:r>
              <a:t>Investigation queue, not automatic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Demand over time | recorded daily totals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08  /  24</a:t>
            </a:r>
          </a:p>
        </p:txBody>
      </p:sp>
      <p:pic>
        <p:nvPicPr>
          <p:cNvPr id="8" name="Picture 7" descr="dai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31520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508760"/>
            <a:ext cx="3520440" cy="4389120"/>
          </a:xfrm>
          <a:prstGeom prst="roundRect">
            <a:avLst/>
          </a:prstGeom>
          <a:solidFill>
            <a:srgbClr val="15264A"/>
          </a:solidFill>
          <a:ln w="1651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8" y="1709928"/>
            <a:ext cx="311810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FFC857"/>
                </a:solidFill>
                <a:latin typeface="Aptos"/>
              </a:defRPr>
            </a:pPr>
            <a:r>
              <a:t>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258568"/>
            <a:ext cx="3118104" cy="3474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Average recorded daily total: 1,296 rides.</a:t>
            </a:r>
            <a:br/>
            <a:r>
              <a:t>Highest recorded daily total: 1,985 on 25 Jan.</a:t>
            </a:r>
            <a:br/>
            <a:r>
              <a:t>Lowest: 151 on 14 Feb.</a:t>
            </a:r>
            <a:br/>
            <a:br/>
            <a:r>
              <a:t>Daily values can be understated when fewer hourly rows are present. Compare record counts alongside daily totals.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Intraday profile | when demand concentrates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09  /  24</a:t>
            </a:r>
          </a:p>
        </p:txBody>
      </p:sp>
      <p:pic>
        <p:nvPicPr>
          <p:cNvPr id="8" name="Picture 7" descr="hourly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31520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508760"/>
            <a:ext cx="3520440" cy="4389120"/>
          </a:xfrm>
          <a:prstGeom prst="roundRect">
            <a:avLst/>
          </a:prstGeom>
          <a:solidFill>
            <a:srgbClr val="15264A"/>
          </a:solidFill>
          <a:ln w="16510">
            <a:solidFill>
              <a:srgbClr val="15C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8" y="1709928"/>
            <a:ext cx="311810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15C6B8"/>
                </a:solidFill>
                <a:latin typeface="Aptos"/>
              </a:defRPr>
            </a:pPr>
            <a:r>
              <a:t>Operational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258568"/>
            <a:ext cx="3118104" cy="3474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Highest average hour: 17:00 (140.2 rides/record).</a:t>
            </a:r>
            <a:br/>
            <a:r>
              <a:t>Lowest average hour: 04:00 (2.2).</a:t>
            </a:r>
            <a:br/>
            <a:br/>
            <a:r>
              <a:t>Use time-of-day patterns to stage bikes and schedule rebalancing. Validate across more months before final staffing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Weekday comparison | demand is not uniform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10  /  24</a:t>
            </a:r>
          </a:p>
        </p:txBody>
      </p:sp>
      <p:pic>
        <p:nvPicPr>
          <p:cNvPr id="8" name="Picture 7" descr="weekday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31520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508760"/>
            <a:ext cx="3520440" cy="4389120"/>
          </a:xfrm>
          <a:prstGeom prst="roundRect">
            <a:avLst/>
          </a:prstGeom>
          <a:solidFill>
            <a:srgbClr val="15264A"/>
          </a:solidFill>
          <a:ln w="16510">
            <a:solidFill>
              <a:srgbClr val="35B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8" y="1709928"/>
            <a:ext cx="311810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35B8F4"/>
                </a:solidFill>
                <a:latin typeface="Aptos"/>
              </a:defRPr>
            </a:pPr>
            <a:r>
              <a:t>Key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258568"/>
            <a:ext cx="3118104" cy="3474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Highest mean: Thursday (67.7 rides/record).</a:t>
            </a:r>
            <a:br/>
            <a:r>
              <a:t>Lowest mean: Saturday (46.7).</a:t>
            </a:r>
            <a:br/>
            <a:br/>
            <a:r>
              <a:t>Weekday means help distinguish commute-driven usage from leisure-oriented demand. This sample has uneven row counts by weekday.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Weather context | demand under different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11  /  24</a:t>
            </a:r>
          </a:p>
        </p:txBody>
      </p:sp>
      <p:pic>
        <p:nvPicPr>
          <p:cNvPr id="8" name="Picture 7" descr="weather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31520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508760"/>
            <a:ext cx="3520440" cy="4389120"/>
          </a:xfrm>
          <a:prstGeom prst="roundRect">
            <a:avLst/>
          </a:prstGeom>
          <a:solidFill>
            <a:srgbClr val="15264A"/>
          </a:solidFill>
          <a:ln w="1651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8" y="1709928"/>
            <a:ext cx="311810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FF6B6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258568"/>
            <a:ext cx="3118104" cy="3474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Normal-weather mean: 61.7 rides/record.</a:t>
            </a:r>
            <a:br/>
            <a:r>
              <a:t>Orange-alert mean: 33.2 rides/record.</a:t>
            </a:r>
            <a:br/>
            <a:br/>
            <a:r>
              <a:t>Lower observed demand in alert categories is consistent with weather sensitivity, but category frequency and timing may confound the comparison. The Red Alert category has only one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Customer mix | registered riders dominate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12  /  24</a:t>
            </a:r>
          </a:p>
        </p:txBody>
      </p:sp>
      <p:pic>
        <p:nvPicPr>
          <p:cNvPr id="8" name="Picture 7" descr="customer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85216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645920"/>
            <a:ext cx="2011680" cy="960120"/>
          </a:xfrm>
          <a:prstGeom prst="roundRect">
            <a:avLst/>
          </a:prstGeom>
          <a:solidFill>
            <a:srgbClr val="15264A"/>
          </a:solidFill>
          <a:ln w="13970">
            <a:solidFill>
              <a:srgbClr val="15C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1755648"/>
            <a:ext cx="173736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C8D2E5"/>
                </a:solidFill>
                <a:latin typeface="Aptos"/>
              </a:defRPr>
            </a:pPr>
            <a:r>
              <a:t>REGISTERED RIDES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029968"/>
            <a:ext cx="1737360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15C6B8"/>
                </a:solidFill>
                <a:latin typeface="Aptos"/>
              </a:defRPr>
            </a:pPr>
            <a:r>
              <a:t>53,383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645920"/>
            <a:ext cx="2011680" cy="960120"/>
          </a:xfrm>
          <a:prstGeom prst="roundRect">
            <a:avLst/>
          </a:prstGeom>
          <a:solidFill>
            <a:srgbClr val="15264A"/>
          </a:solidFill>
          <a:ln w="139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81160" y="1755648"/>
            <a:ext cx="173736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C8D2E5"/>
                </a:solidFill>
                <a:latin typeface="Aptos"/>
              </a:defRPr>
            </a:pPr>
            <a:r>
              <a:t>CASUAL RIDES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029968"/>
            <a:ext cx="1737360" cy="38404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FF6B6B"/>
                </a:solidFill>
                <a:latin typeface="Aptos"/>
              </a:defRPr>
            </a:pPr>
            <a:r>
              <a:t>4,921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971800"/>
            <a:ext cx="4114800" cy="8229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F7FAFF"/>
                </a:solidFill>
                <a:latin typeface="Aptos"/>
              </a:defRPr>
            </a:pPr>
            <a:r>
              <a:t>Registered riders contribute 91.6% of recorded rides; casual riders contribute 8.4%.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069080"/>
            <a:ext cx="4114800" cy="1188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C8D2E5"/>
                </a:solidFill>
                <a:latin typeface="Aptos"/>
              </a:defRPr>
            </a:pPr>
            <a:r>
              <a:t>Growth implication: protect commuter reliability for registered users while testing off-peak offers and discovery campaigns for casual riders.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Correlation scan | relationships to investigate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13  /  24</a:t>
            </a:r>
          </a:p>
        </p:txBody>
      </p:sp>
      <p:pic>
        <p:nvPicPr>
          <p:cNvPr id="8" name="Picture 7" descr="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31520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508760"/>
            <a:ext cx="3520440" cy="4389120"/>
          </a:xfrm>
          <a:prstGeom prst="roundRect">
            <a:avLst/>
          </a:prstGeom>
          <a:solidFill>
            <a:srgbClr val="15264A"/>
          </a:solidFill>
          <a:ln w="16510">
            <a:solidFill>
              <a:srgbClr val="9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8" y="1709928"/>
            <a:ext cx="311810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9B8CFF"/>
                </a:solidFill>
                <a:latin typeface="Aptos"/>
              </a:defRPr>
            </a:pPr>
            <a:r>
              <a:t>What it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258568"/>
            <a:ext cx="3118104" cy="3474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Temperature correlation: +0.23.</a:t>
            </a:r>
            <a:br/>
            <a:r>
              <a:t>Humidity correlation: -0.25.</a:t>
            </a:r>
            <a:br/>
            <a:r>
              <a:t>Windspeed correlation: +0.10.</a:t>
            </a:r>
            <a:br/>
            <a:br/>
            <a:r>
              <a:t>Correlation captures linear association only. It does not control for hour, season, weekday or weather confounding.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Temperature &amp; demand | explore non-linear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14  /  24</a:t>
            </a:r>
          </a:p>
        </p:txBody>
      </p:sp>
      <p:pic>
        <p:nvPicPr>
          <p:cNvPr id="8" name="Picture 7" descr="temp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31520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508760"/>
            <a:ext cx="3520440" cy="4389120"/>
          </a:xfrm>
          <a:prstGeom prst="roundRect">
            <a:avLst/>
          </a:prstGeom>
          <a:solidFill>
            <a:srgbClr val="15264A"/>
          </a:solidFill>
          <a:ln w="1651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8" y="1709928"/>
            <a:ext cx="311810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FFC857"/>
                </a:solidFill>
                <a:latin typeface="Aptos"/>
              </a:defRPr>
            </a:pPr>
            <a:r>
              <a:t>Analyst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258568"/>
            <a:ext cx="3118104" cy="3474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The relationship is dispersed: temperature alone does not explain hourly demand. Humidity is encoded by point color to show that environmental factors overlap.</a:t>
            </a:r>
            <a:br/>
            <a:br/>
            <a:r>
              <a:t>Recommended next model: multivariable regression or tree-based model with hour, weekday, weather and date features, evaluated on a chronological holdout.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Descriptive statistics | distribution and spread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15  /  24</a:t>
            </a:r>
          </a:p>
        </p:txBody>
      </p:sp>
      <p:pic>
        <p:nvPicPr>
          <p:cNvPr id="8" name="Picture 7" descr="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31520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508760"/>
            <a:ext cx="3520440" cy="4389120"/>
          </a:xfrm>
          <a:prstGeom prst="roundRect">
            <a:avLst/>
          </a:prstGeom>
          <a:solidFill>
            <a:srgbClr val="15264A"/>
          </a:solidFill>
          <a:ln w="16510">
            <a:solidFill>
              <a:srgbClr val="15C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8" y="1709928"/>
            <a:ext cx="311810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15C6B8"/>
                </a:solidFill>
                <a:latin typeface="Aptos"/>
              </a:defRPr>
            </a:pPr>
            <a:r>
              <a:t>Summary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258568"/>
            <a:ext cx="3118104" cy="3474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Mean: 58.3</a:t>
            </a:r>
            <a:br/>
            <a:r>
              <a:t>Median: 49</a:t>
            </a:r>
            <a:br/>
            <a:r>
              <a:t>Standard deviation: 51.0</a:t>
            </a:r>
            <a:br/>
            <a:r>
              <a:t>Minimum / maximum: 1 / 249</a:t>
            </a:r>
            <a:br/>
            <a:r>
              <a:t>Q1 / Q3: 16 / 83</a:t>
            </a:r>
            <a:br/>
            <a:br/>
            <a:r>
              <a:t>The mean exceeds the median, reflecting a right tail of higher-demand hours.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Pivot-style summary | category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16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5C6B8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5C6B8"/>
                </a:solidFill>
                <a:latin typeface="Aptos"/>
              </a:defRPr>
            </a:pPr>
            <a:r>
              <a:t>Recorded rides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508760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5C6B8"/>
                </a:solidFill>
                <a:latin typeface="Aptos"/>
              </a:defRPr>
            </a:pPr>
            <a:r>
              <a:t>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75688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F7FAFF"/>
                </a:solidFill>
                <a:latin typeface="Aptos"/>
              </a:defRPr>
            </a:pPr>
            <a:r>
              <a:t>Registered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75688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F7FAFF"/>
                </a:solidFill>
                <a:latin typeface="Aptos"/>
              </a:defRPr>
            </a:pPr>
            <a:r>
              <a:t>53,383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075688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F7FAFF"/>
                </a:solidFill>
                <a:latin typeface="Aptos"/>
              </a:defRPr>
            </a:pPr>
            <a:r>
              <a:t>91.6%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42615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F7FAFF"/>
                </a:solidFill>
                <a:latin typeface="Aptos"/>
              </a:defRPr>
            </a:pPr>
            <a:r>
              <a:t>Casual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642615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F7FAFF"/>
                </a:solidFill>
                <a:latin typeface="Aptos"/>
              </a:defRPr>
            </a:pPr>
            <a:r>
              <a:t>4,921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642615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F7FAFF"/>
                </a:solidFill>
                <a:latin typeface="Aptos"/>
              </a:defRPr>
            </a:pPr>
            <a:r>
              <a:t>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09544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F7FAFF"/>
                </a:solidFill>
                <a:latin typeface="Aptos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0" y="3209544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F7FAFF"/>
                </a:solidFill>
                <a:latin typeface="Aptos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0" y="3209544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0">
                <a:solidFill>
                  <a:srgbClr val="F7FAFF"/>
                </a:solidFill>
                <a:latin typeface="Aptos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776472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5C6B8"/>
                </a:solidFill>
                <a:latin typeface="Aptos"/>
              </a:defRPr>
            </a:pPr>
            <a:r>
              <a:t>Weather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776472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5C6B8"/>
                </a:solidFill>
                <a:latin typeface="Aptos"/>
              </a:defRPr>
            </a:pPr>
            <a:r>
              <a:t>Mean rides / 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776472"/>
            <a:ext cx="256032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15C6B8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F7FAFF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572000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F7FAFF"/>
                </a:solidFill>
                <a:latin typeface="Aptos"/>
              </a:defRPr>
            </a:pPr>
            <a:r>
              <a:t>61.7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572000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F7FAFF"/>
                </a:solidFill>
                <a:latin typeface="Aptos"/>
              </a:defRPr>
            </a:pPr>
            <a:r>
              <a:t>606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919472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F7FAFF"/>
                </a:solidFill>
                <a:latin typeface="Aptos"/>
              </a:defRPr>
            </a:pPr>
            <a:r>
              <a:t>Orange Alert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919472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F7FAFF"/>
                </a:solidFill>
                <a:latin typeface="Aptos"/>
              </a:defRPr>
            </a:pPr>
            <a:r>
              <a:t>33.2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919472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F7FAFF"/>
                </a:solidFill>
                <a:latin typeface="Aptos"/>
              </a:defRPr>
            </a:pPr>
            <a:r>
              <a:t>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66944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F7FAFF"/>
                </a:solidFill>
                <a:latin typeface="Aptos"/>
              </a:defRPr>
            </a:pPr>
            <a:r>
              <a:t>Red 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5266944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F7FAFF"/>
                </a:solidFill>
                <a:latin typeface="Aptos"/>
              </a:defRPr>
            </a:pPr>
            <a:r>
              <a:t>36.0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266944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F7FA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614416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F7FAFF"/>
                </a:solidFill>
                <a:latin typeface="Aptos"/>
              </a:defRPr>
            </a:pPr>
            <a:r>
              <a:t>Yellow Alert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5614416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F7FAFF"/>
                </a:solidFill>
                <a:latin typeface="Aptos"/>
              </a:defRPr>
            </a:pPr>
            <a:r>
              <a:t>58.6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614416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F7FAFF"/>
                </a:solidFill>
                <a:latin typeface="Aptos"/>
              </a:defRPr>
            </a:pPr>
            <a:r>
              <a:t>309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1508760"/>
            <a:ext cx="3017520" cy="4480560"/>
          </a:xfrm>
          <a:prstGeom prst="roundRect">
            <a:avLst/>
          </a:prstGeom>
          <a:solidFill>
            <a:srgbClr val="15264A"/>
          </a:solidFill>
          <a:ln w="16510">
            <a:solidFill>
              <a:srgbClr val="35B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13648" y="1709928"/>
            <a:ext cx="261518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35B8F4"/>
                </a:solidFill>
                <a:latin typeface="Aptos"/>
              </a:defRPr>
            </a:pPr>
            <a:r>
              <a:t>PivotTable build in Excel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3648" y="2258568"/>
            <a:ext cx="2615184" cy="35661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Rows: Weathersit or Weekday</a:t>
            </a:r>
            <a:br/>
            <a:r>
              <a:t>Values: Average of Total_Count, Sum of Total_Count, Count of instant</a:t>
            </a:r>
            <a:br/>
            <a:r>
              <a:t>Filters / slicers: Date, Hour, Holiday</a:t>
            </a:r>
            <a:br/>
            <a:br/>
            <a:r>
              <a:t>This view supports side-by-side comparison and can be refreshed when the source table is updated.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Pivot charts | choose the chart for the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17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074920" cy="1600200"/>
          </a:xfrm>
          <a:prstGeom prst="roundRect">
            <a:avLst/>
          </a:prstGeom>
          <a:solidFill>
            <a:srgbClr val="15264A"/>
          </a:solidFill>
          <a:ln w="19050">
            <a:solidFill>
              <a:srgbClr val="15C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19072"/>
            <a:ext cx="466344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15C6B8"/>
                </a:solidFill>
                <a:latin typeface="Aptos"/>
              </a:defRPr>
            </a:pPr>
            <a:r>
              <a:t>Column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1"/>
            <a:ext cx="466344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F7FAFF"/>
                </a:solidFill>
                <a:latin typeface="Aptos"/>
              </a:defRPr>
            </a:pPr>
            <a:r>
              <a:t>Average rides by 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466344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C8D2E5"/>
                </a:solidFill>
                <a:latin typeface="Aptos"/>
              </a:defRPr>
            </a:pPr>
            <a:r>
              <a:t>Best for identifying peak and low-demand periods.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554480"/>
            <a:ext cx="5074920" cy="1600200"/>
          </a:xfrm>
          <a:prstGeom prst="roundRect">
            <a:avLst/>
          </a:prstGeom>
          <a:solidFill>
            <a:srgbClr val="15264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719072"/>
            <a:ext cx="466344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FF6B6B"/>
                </a:solidFill>
                <a:latin typeface="Aptos"/>
              </a:defRPr>
            </a:pPr>
            <a:r>
              <a:t>Clustered 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84831"/>
            <a:ext cx="466344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F7FAFF"/>
                </a:solidFill>
                <a:latin typeface="Aptos"/>
              </a:defRPr>
            </a:pPr>
            <a:r>
              <a:t>Average rides by Weekday / Weather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466344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C8D2E5"/>
                </a:solidFill>
                <a:latin typeface="Aptos"/>
              </a:defRPr>
            </a:pPr>
            <a:r>
              <a:t>Best for ranking categories and comparing demand.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074920" cy="1600200"/>
          </a:xfrm>
          <a:prstGeom prst="roundRect">
            <a:avLst/>
          </a:prstGeom>
          <a:solidFill>
            <a:srgbClr val="15264A"/>
          </a:solidFill>
          <a:ln w="1905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466344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FFC857"/>
                </a:solidFill>
                <a:latin typeface="Aptos"/>
              </a:defRPr>
            </a:pPr>
            <a:r>
              <a:t>Line chart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96512"/>
            <a:ext cx="466344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F7FAFF"/>
                </a:solidFill>
                <a:latin typeface="Aptos"/>
              </a:defRPr>
            </a:pPr>
            <a:r>
              <a:t>Daily rides over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466344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C8D2E5"/>
                </a:solidFill>
                <a:latin typeface="Aptos"/>
              </a:defRPr>
            </a:pPr>
            <a:r>
              <a:t>Best for trend, change points and forecast overlays.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566160"/>
            <a:ext cx="5074920" cy="1600200"/>
          </a:xfrm>
          <a:prstGeom prst="roundRect">
            <a:avLst/>
          </a:prstGeom>
          <a:solidFill>
            <a:srgbClr val="15264A"/>
          </a:solidFill>
          <a:ln w="19050">
            <a:solidFill>
              <a:srgbClr val="9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730752"/>
            <a:ext cx="466344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9B8CFF"/>
                </a:solidFill>
                <a:latin typeface="Aptos"/>
              </a:defRPr>
            </a:pPr>
            <a:r>
              <a:t>Stacked column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96512"/>
            <a:ext cx="466344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1">
                <a:solidFill>
                  <a:srgbClr val="F7FAFF"/>
                </a:solidFill>
                <a:latin typeface="Aptos"/>
              </a:defRPr>
            </a:pPr>
            <a:r>
              <a:t>Registered vs Casual by Weekday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80560"/>
            <a:ext cx="466344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0">
                <a:solidFill>
                  <a:srgbClr val="C8D2E5"/>
                </a:solidFill>
                <a:latin typeface="Aptos"/>
              </a:defRPr>
            </a:pPr>
            <a:r>
              <a:t>Best for segment mix and acquisition opportunities.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1069848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1">
                <a:solidFill>
                  <a:srgbClr val="F7FAFF"/>
                </a:solidFill>
                <a:latin typeface="Aptos"/>
              </a:defRPr>
            </a:pPr>
            <a:r>
              <a:t>Excel workflow: Insert → PivotTable → assign Rows / Values → Insert PivotChart → add slicers → verify aggregation.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Forecasting | short-horizon scenario, not a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18  /  24</a:t>
            </a:r>
          </a:p>
        </p:txBody>
      </p:sp>
      <p:pic>
        <p:nvPicPr>
          <p:cNvPr id="8" name="Picture 7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31520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508760"/>
            <a:ext cx="3520440" cy="4389120"/>
          </a:xfrm>
          <a:prstGeom prst="roundRect">
            <a:avLst/>
          </a:prstGeom>
          <a:solidFill>
            <a:srgbClr val="15264A"/>
          </a:solidFill>
          <a:ln w="1651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8" y="1709928"/>
            <a:ext cx="311810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FFC857"/>
                </a:solidFill>
                <a:latin typeface="Aptos"/>
              </a:defRPr>
            </a:pPr>
            <a:r>
              <a:t>Method &amp; caveat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258568"/>
            <a:ext cx="3118104" cy="3474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Trend scenario average: 1,393 recorded rides/day.</a:t>
            </a:r>
            <a:br/>
            <a:r>
              <a:t>7-day mean baseline: 1,376 rides/day.</a:t>
            </a:r>
            <a:br/>
            <a:br/>
            <a:r>
              <a:t>Method: linear trend fitted to 45 daily aggregates; compared with a flat recent-7-day baseline.</a:t>
            </a:r>
            <a:br/>
            <a:br/>
            <a:r>
              <a:t>Because the sample is short and daily coverage is incomplete, treat this as a demonstration. Production forecasting should use complete daily data, seasonality and chronological backtesting.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Anomaly screening | flag, then investigate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19  /  24</a:t>
            </a:r>
          </a:p>
        </p:txBody>
      </p:sp>
      <p:pic>
        <p:nvPicPr>
          <p:cNvPr id="8" name="Picture 7" descr="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31520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508760"/>
            <a:ext cx="3520440" cy="4389120"/>
          </a:xfrm>
          <a:prstGeom prst="roundRect">
            <a:avLst/>
          </a:prstGeom>
          <a:solidFill>
            <a:srgbClr val="15264A"/>
          </a:solidFill>
          <a:ln w="1651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8" y="1709928"/>
            <a:ext cx="311810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FF6B6B"/>
                </a:solidFill>
                <a:latin typeface="Aptos"/>
              </a:defRPr>
            </a:pPr>
            <a:r>
              <a:t>Screening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258568"/>
            <a:ext cx="3118104" cy="3474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400" b="0">
                <a:solidFill>
                  <a:srgbClr val="F7FAFF"/>
                </a:solidFill>
                <a:latin typeface="Aptos"/>
              </a:defRPr>
            </a:pPr>
            <a:r>
              <a:t>IQR lower fence: -84.5</a:t>
            </a:r>
            <a:br/>
            <a:r>
              <a:t>IQR upper fence: 183.5</a:t>
            </a:r>
            <a:br/>
            <a:r>
              <a:t>Flagged rows: 30 of 1000 (3.0%).</a:t>
            </a:r>
            <a:br/>
            <a:br/>
            <a:r>
              <a:t>IQR flags include unusually high hourly demand and are not automatic data errors. Review event context, time, weather and neighboring records before action.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Dashboard preparation | executive monitoring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20  /  24</a:t>
            </a:r>
          </a:p>
        </p:txBody>
      </p:sp>
      <p:pic>
        <p:nvPicPr>
          <p:cNvPr id="8" name="Picture 7" descr="dashboard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88136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800600"/>
            <a:ext cx="10515600" cy="1417320"/>
          </a:xfrm>
          <a:prstGeom prst="rect">
            <a:avLst/>
          </a:prstGeom>
          <a:noFill/>
        </p:spPr>
        <p:txBody>
          <a:bodyPr wrap="square" lIns="54864" tIns="18288" rIns="36576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F7FAFF"/>
                </a:solidFill>
                <a:latin typeface="Aptos"/>
              </a:defRPr>
            </a:pPr>
            <a:r>
              <a:t>•  KPI cards: Total rides • Average rides / record • Registered share • IQR outlier count</a:t>
            </a:r>
          </a:p>
          <a:p>
            <a:pPr>
              <a:spcAft>
                <a:spcPts val="500"/>
              </a:spcAft>
              <a:defRPr sz="1200">
                <a:solidFill>
                  <a:srgbClr val="F7FAFF"/>
                </a:solidFill>
                <a:latin typeface="Aptos"/>
              </a:defRPr>
            </a:pPr>
            <a:r>
              <a:t>•  Trend panel: daily recorded totals with mean line and forecast scenario</a:t>
            </a:r>
          </a:p>
          <a:p>
            <a:pPr>
              <a:spcAft>
                <a:spcPts val="500"/>
              </a:spcAft>
              <a:defRPr sz="1200">
                <a:solidFill>
                  <a:srgbClr val="F7FAFF"/>
                </a:solidFill>
                <a:latin typeface="Aptos"/>
              </a:defRPr>
            </a:pPr>
            <a:r>
              <a:t>•  Demand panels: hourly profile, weekday ranking and weather comparison</a:t>
            </a:r>
          </a:p>
          <a:p>
            <a:pPr>
              <a:spcAft>
                <a:spcPts val="500"/>
              </a:spcAft>
              <a:defRPr sz="1200">
                <a:solidFill>
                  <a:srgbClr val="F7FAFF"/>
                </a:solidFill>
                <a:latin typeface="Aptos"/>
              </a:defRPr>
            </a:pPr>
            <a:r>
              <a:t>•  Controls: Date range, Hour, Weekday, Holiday and Weathersit slicers</a:t>
            </a:r>
          </a:p>
          <a:p>
            <a:pPr>
              <a:spcAft>
                <a:spcPts val="500"/>
              </a:spcAft>
              <a:defRPr sz="1200">
                <a:solidFill>
                  <a:srgbClr val="F7FAFF"/>
                </a:solidFill>
                <a:latin typeface="Aptos"/>
              </a:defRPr>
            </a:pPr>
            <a:r>
              <a:t>•  Design rule: show data coverage and row-count completeness beside daily totals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Recommendations | turn evidence into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21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274320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15C6B8"/>
                </a:solidFill>
                <a:latin typeface="Aptos"/>
              </a:defRPr>
            </a:pPr>
            <a:r>
              <a:t>01  Fleet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417320"/>
            <a:ext cx="777240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7FAFF"/>
                </a:solidFill>
                <a:latin typeface="Aptos"/>
              </a:defRPr>
            </a:pPr>
            <a:r>
              <a:t>Prioritize readiness around 08:00 and 17:00–18:00; validate by station/location data before moving inventory.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0008"/>
            <a:ext cx="274320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9B8CFF"/>
                </a:solidFill>
                <a:latin typeface="Aptos"/>
              </a:defRPr>
            </a:pPr>
            <a:r>
              <a:t>02  Segment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50008"/>
            <a:ext cx="777240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7FAFF"/>
                </a:solidFill>
                <a:latin typeface="Aptos"/>
              </a:defRPr>
            </a:pPr>
            <a:r>
              <a:t>Protect registered-user commute reliability; test casual-user offers in quieter windows.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82696"/>
            <a:ext cx="274320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FF6B6B"/>
                </a:solidFill>
                <a:latin typeface="Aptos"/>
              </a:defRPr>
            </a:pPr>
            <a:r>
              <a:t>03  Weather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282696"/>
            <a:ext cx="777240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7FAFF"/>
                </a:solidFill>
                <a:latin typeface="Aptos"/>
              </a:defRPr>
            </a:pPr>
            <a:r>
              <a:t>Use weather as a planning signal, but quantify impact with controls for hour and weekday.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15384"/>
            <a:ext cx="274320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FFC857"/>
                </a:solidFill>
                <a:latin typeface="Aptos"/>
              </a:defRPr>
            </a:pPr>
            <a:r>
              <a:t>04  Exception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215384"/>
            <a:ext cx="777240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7FAFF"/>
                </a:solidFill>
                <a:latin typeface="Aptos"/>
              </a:defRPr>
            </a:pPr>
            <a:r>
              <a:t>Create an anomaly review queue; distinguish real surges from missing / partial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48072"/>
            <a:ext cx="2743200" cy="34747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35B8F4"/>
                </a:solidFill>
                <a:latin typeface="Aptos"/>
              </a:defRPr>
            </a:pPr>
            <a:r>
              <a:t>05  Reporting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148072"/>
            <a:ext cx="777240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F7FAFF"/>
                </a:solidFill>
                <a:latin typeface="Aptos"/>
              </a:defRPr>
            </a:pPr>
            <a:r>
              <a:t>Automate refresh, document KPI definitions, and display coverage / freshness on the dashboard.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Implementation roadmap | from workbook to repeatable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22  /  24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99616"/>
            <a:ext cx="384048" cy="384048"/>
          </a:xfrm>
          <a:prstGeom prst="ellipse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0976" y="1883664"/>
            <a:ext cx="36576" cy="530352"/>
          </a:xfrm>
          <a:prstGeom prst="rect">
            <a:avLst/>
          </a:prstGeom>
          <a:solidFill>
            <a:srgbClr val="42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463040"/>
            <a:ext cx="109728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1">
                <a:solidFill>
                  <a:srgbClr val="C8D2E5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463040"/>
            <a:ext cx="219456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F7FAFF"/>
                </a:solidFill>
                <a:latin typeface="Aptos"/>
              </a:defRPr>
            </a:pPr>
            <a:r>
              <a:t>Data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463040"/>
            <a:ext cx="6583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C8D2E5"/>
                </a:solidFill>
                <a:latin typeface="Aptos"/>
              </a:defRPr>
            </a:pPr>
            <a:r>
              <a:t>Resolve full-day coverage, field definitions, date / time completeness.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414016"/>
            <a:ext cx="384048" cy="384048"/>
          </a:xfrm>
          <a:prstGeom prst="ellipse">
            <a:avLst/>
          </a:prstGeom>
          <a:solidFill>
            <a:srgbClr val="35B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50976" y="2798064"/>
            <a:ext cx="36576" cy="530352"/>
          </a:xfrm>
          <a:prstGeom prst="rect">
            <a:avLst/>
          </a:prstGeom>
          <a:solidFill>
            <a:srgbClr val="42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17320" y="2377440"/>
            <a:ext cx="109728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1">
                <a:solidFill>
                  <a:srgbClr val="C8D2E5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377440"/>
            <a:ext cx="219456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F7FAFF"/>
                </a:solidFill>
                <a:latin typeface="Aptos"/>
              </a:defRPr>
            </a:pPr>
            <a:r>
              <a:t>Excel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77440"/>
            <a:ext cx="6583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C8D2E5"/>
                </a:solidFill>
                <a:latin typeface="Aptos"/>
              </a:defRPr>
            </a:pPr>
            <a:r>
              <a:t>Structured tables, Power Query transformations, validation checks.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328416"/>
            <a:ext cx="384048" cy="384048"/>
          </a:xfrm>
          <a:prstGeom prst="ellipse">
            <a:avLst/>
          </a:prstGeom>
          <a:solidFill>
            <a:srgbClr val="9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976" y="3712464"/>
            <a:ext cx="36576" cy="530352"/>
          </a:xfrm>
          <a:prstGeom prst="rect">
            <a:avLst/>
          </a:prstGeom>
          <a:solidFill>
            <a:srgbClr val="42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17320" y="3291840"/>
            <a:ext cx="109728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1">
                <a:solidFill>
                  <a:srgbClr val="C8D2E5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291840"/>
            <a:ext cx="219456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F7FAFF"/>
                </a:solidFill>
                <a:latin typeface="Aptos"/>
              </a:defRPr>
            </a:pPr>
            <a:r>
              <a:t>Reporting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291840"/>
            <a:ext cx="6583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C8D2E5"/>
                </a:solidFill>
                <a:latin typeface="Aptos"/>
              </a:defRPr>
            </a:pPr>
            <a:r>
              <a:t>PivotTables, PivotCharts, slicers and executive dashboard.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242816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50976" y="4626864"/>
            <a:ext cx="36576" cy="530352"/>
          </a:xfrm>
          <a:prstGeom prst="rect">
            <a:avLst/>
          </a:prstGeom>
          <a:solidFill>
            <a:srgbClr val="42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17320" y="4206240"/>
            <a:ext cx="109728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1">
                <a:solidFill>
                  <a:srgbClr val="C8D2E5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206240"/>
            <a:ext cx="219456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F7FAFF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206240"/>
            <a:ext cx="6583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C8D2E5"/>
                </a:solidFill>
                <a:latin typeface="Aptos"/>
              </a:defRPr>
            </a:pPr>
            <a:r>
              <a:t>Backtest forecast, test anomaly rules, compare against baselines.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5157216"/>
            <a:ext cx="384048" cy="38404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17320" y="5120640"/>
            <a:ext cx="109728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200" b="1">
                <a:solidFill>
                  <a:srgbClr val="C8D2E5"/>
                </a:solidFill>
                <a:latin typeface="Aptos"/>
              </a:defRPr>
            </a:pPr>
            <a:r>
              <a:t>Ongoing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5120640"/>
            <a:ext cx="219456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500" b="1">
                <a:solidFill>
                  <a:srgbClr val="F7FAFF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5120640"/>
            <a:ext cx="6583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C8D2E5"/>
                </a:solidFill>
                <a:latin typeface="Aptos"/>
              </a:defRPr>
            </a:pPr>
            <a:r>
              <a:t>Refresh log, metric owner, version control and monthly review.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900" b="1">
                <a:solidFill>
                  <a:srgbClr val="15C6B8"/>
                </a:solidFill>
                <a:latin typeface="Aptos"/>
              </a:defRPr>
            </a:pPr>
            <a:r>
              <a:t>BIKE SHARING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700" b="1">
                <a:solidFill>
                  <a:srgbClr val="F7FAFF"/>
                </a:solidFill>
                <a:latin typeface="Aptos"/>
              </a:defRPr>
            </a:pPr>
            <a:r>
              <a:t>Limitations &amp; next analytical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16459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800" b="0">
                <a:solidFill>
                  <a:srgbClr val="C8D2E5"/>
                </a:solidFill>
                <a:latin typeface="Aptos"/>
              </a:defRPr>
            </a:pPr>
            <a:r>
              <a:t>NEXTHIKES IT SOLUTIONS  •  DATA SCIENCE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822960" cy="1828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>
              <a:defRPr sz="800" b="0">
                <a:solidFill>
                  <a:srgbClr val="C8D2E5"/>
                </a:solidFill>
                <a:latin typeface="Aptos"/>
              </a:defRPr>
            </a:pPr>
            <a:r>
              <a:t>23  / 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4526280"/>
          </a:xfrm>
          <a:prstGeom prst="rect">
            <a:avLst/>
          </a:prstGeom>
          <a:noFill/>
        </p:spPr>
        <p:txBody>
          <a:bodyPr wrap="square" lIns="54864" tIns="18288" rIns="36576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t>•  Sample window is short: 45 dates from 1 Jan to 14 Feb 2011; no annual seasonality can be inferred.</a:t>
            </a:r>
          </a:p>
          <a:p>
            <a:pPr>
              <a:spcAft>
                <a:spcPts val="11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t>•  Daily aggregates may be incomplete because row counts vary by date; raw daily comparisons need a completeness filter.</a:t>
            </a:r>
          </a:p>
          <a:p>
            <a:pPr>
              <a:spcAft>
                <a:spcPts val="11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t>•  Weather category imbalance (including only one Red Alert record) limits conclusions for rare conditions.</a:t>
            </a:r>
          </a:p>
          <a:p>
            <a:pPr>
              <a:spcAft>
                <a:spcPts val="11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t>•  Correlation is descriptive; a multivariable model is needed to isolate hour, weekday, weather and temperature effects.</a:t>
            </a:r>
          </a:p>
          <a:p>
            <a:pPr>
              <a:spcAft>
                <a:spcPts val="11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t>•  Next data needed: station / geography, full historical span, service availability, pricing, events and maintenance logs.</a:t>
            </a:r>
          </a:p>
          <a:p>
            <a:pPr>
              <a:spcAft>
                <a:spcPts val="1100"/>
              </a:spcAft>
              <a:defRPr sz="1500">
                <a:solidFill>
                  <a:srgbClr val="F7FAFF"/>
                </a:solidFill>
                <a:latin typeface="Aptos"/>
              </a:defRPr>
            </a:pPr>
            <a:r>
              <a:t>•  Forecast should be evaluated with rolling-origin backtesting and MAE / RMSE against seasonal-naïve baselines.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1">
                <a:solidFill>
                  <a:srgbClr val="FFC857"/>
                </a:solidFill>
                <a:latin typeface="Aptos"/>
              </a:defRPr>
            </a:pPr>
            <a:r>
              <a:t>Professional conclusion: the workbook supports a strong exploratory analysis and dashboard prototype; operational commitments require fuller, more complete data.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C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evron 3"/>
          <p:cNvSpPr/>
          <p:nvPr/>
        </p:nvSpPr>
        <p:spPr>
          <a:xfrm>
            <a:off x="201168" y="658368"/>
            <a:ext cx="1143000" cy="384048"/>
          </a:xfrm>
          <a:prstGeom prst="chevron">
            <a:avLst/>
          </a:prstGeom>
          <a:solidFill>
            <a:srgbClr val="D84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20240" y="1508760"/>
            <a:ext cx="8412480" cy="8229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3800" b="1">
                <a:solidFill>
                  <a:srgbClr val="17233B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154680"/>
            <a:ext cx="813816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600" b="1">
                <a:solidFill>
                  <a:srgbClr val="344563"/>
                </a:solidFill>
                <a:latin typeface="Aptos"/>
              </a:defRPr>
            </a:pPr>
            <a:r>
              <a:t>Janani B  |  Data Science Intern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566160"/>
            <a:ext cx="813816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500" b="0">
                <a:solidFill>
                  <a:srgbClr val="344563"/>
                </a:solidFill>
                <a:latin typeface="Aptos"/>
              </a:defRPr>
            </a:pPr>
            <a:r>
              <a:t>Nexthikes IT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2100</Words>
  <Application>Microsoft Office PowerPoint</Application>
  <PresentationFormat>Widescreen</PresentationFormat>
  <Paragraphs>276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Demand Data Analysis Using Excel</dc:title>
  <dc:subject>Senior-level data analyst project presentation</dc:subject>
  <dc:creator>Janani B</dc:creator>
  <cp:keywords>Bike sharing, Excel, Power Query, PivotTables, forecasting, anomaly detection, dashboard</cp:keywords>
  <dc:description>generated using python-pptx</dc:description>
  <cp:lastModifiedBy>Janani sri varshini</cp:lastModifiedBy>
  <cp:revision>2</cp:revision>
  <dcterms:created xsi:type="dcterms:W3CDTF">2013-01-27T09:14:16Z</dcterms:created>
  <dcterms:modified xsi:type="dcterms:W3CDTF">2026-10-18T18:51:03Z</dcterms:modified>
  <cp:category/>
</cp:coreProperties>
</file>